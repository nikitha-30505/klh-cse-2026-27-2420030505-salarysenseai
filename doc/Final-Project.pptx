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6" r:id="rId2"/>
    <p:sldId id="288" r:id="rId3"/>
    <p:sldId id="287" r:id="rId4"/>
    <p:sldId id="289" r:id="rId5"/>
    <p:sldId id="302" r:id="rId6"/>
    <p:sldId id="303" r:id="rId7"/>
    <p:sldId id="290" r:id="rId8"/>
    <p:sldId id="304" r:id="rId9"/>
    <p:sldId id="305" r:id="rId10"/>
    <p:sldId id="306" r:id="rId11"/>
    <p:sldId id="307" r:id="rId12"/>
    <p:sldId id="292" r:id="rId13"/>
    <p:sldId id="308" r:id="rId14"/>
    <p:sldId id="309" r:id="rId15"/>
    <p:sldId id="310" r:id="rId16"/>
    <p:sldId id="312" r:id="rId17"/>
    <p:sldId id="311" r:id="rId18"/>
    <p:sldId id="313" r:id="rId1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F9C4D1-49F9-4C2D-90CF-837BAD79785B}" v="10" dt="2026-09-13T15:49:10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87" autoAdjust="0"/>
    <p:restoredTop sz="95008" autoAdjust="0"/>
  </p:normalViewPr>
  <p:slideViewPr>
    <p:cSldViewPr>
      <p:cViewPr varScale="1">
        <p:scale>
          <a:sx n="100" d="100"/>
          <a:sy n="100" d="100"/>
        </p:scale>
        <p:origin x="122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2A2A7-8E58-4AA3-854C-AFDBFBEC253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36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2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20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7"/>
            <a:ext cx="5111751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5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5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lh.edu.i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3050" y="695499"/>
            <a:ext cx="6153150" cy="176589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350" dirty="0">
                <a:latin typeface="Times New Roman" pitchFamily="18" charset="0"/>
                <a:cs typeface="Times New Roman" pitchFamily="18" charset="0"/>
              </a:rPr>
            </a:br>
            <a:br>
              <a:rPr lang="en-US" sz="1350" dirty="0">
                <a:latin typeface="Times New Roman" pitchFamily="18" charset="0"/>
                <a:cs typeface="Times New Roman" pitchFamily="18" charset="0"/>
              </a:rPr>
            </a:br>
            <a:br>
              <a:rPr lang="en-US" sz="1350" dirty="0">
                <a:latin typeface="Times New Roman" pitchFamily="18" charset="0"/>
                <a:cs typeface="Times New Roman" pitchFamily="18" charset="0"/>
              </a:rPr>
            </a:br>
            <a:br>
              <a:rPr lang="en-US" sz="135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b="1" dirty="0"/>
            </a:br>
            <a:endParaRPr lang="en-US" sz="3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50" y="872088"/>
            <a:ext cx="6343650" cy="279976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80000"/>
              </a:lnSpc>
              <a:defRPr/>
            </a:pPr>
            <a:endParaRPr lang="en-US" sz="8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8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5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Batch 5 - Section 4</a:t>
            </a:r>
          </a:p>
          <a:p>
            <a:pPr>
              <a:lnSpc>
                <a:spcPct val="80000"/>
              </a:lnSpc>
              <a:defRPr/>
            </a:pPr>
            <a:endParaRPr lang="en-US" sz="6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6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7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Team members</a:t>
            </a:r>
            <a:endParaRPr lang="en-US" sz="6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49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80000"/>
              </a:lnSpc>
              <a:defRPr/>
            </a:pPr>
            <a:r>
              <a:rPr lang="en-US" sz="49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</a:t>
            </a:r>
            <a:r>
              <a:rPr lang="en-US" sz="6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Roll No                    Name</a:t>
            </a:r>
          </a:p>
          <a:p>
            <a:pPr algn="l">
              <a:lnSpc>
                <a:spcPct val="80000"/>
              </a:lnSpc>
              <a:defRPr/>
            </a:pPr>
            <a:endParaRPr lang="en-US" sz="4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80000"/>
              </a:lnSpc>
              <a:defRPr/>
            </a:pPr>
            <a:r>
              <a:rPr lang="en-US" sz="4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</a:t>
            </a:r>
            <a:r>
              <a:rPr lang="en-US" sz="8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2420030505     </a:t>
            </a:r>
            <a:r>
              <a:rPr lang="en-US" sz="8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A.Nikitha</a:t>
            </a:r>
            <a:endParaRPr lang="en-US" sz="8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80000"/>
              </a:lnSpc>
              <a:defRPr/>
            </a:pPr>
            <a:r>
              <a:rPr lang="en-US" sz="8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2420030605    </a:t>
            </a:r>
            <a:r>
              <a:rPr lang="en-US" sz="8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Y.Revanth</a:t>
            </a:r>
            <a:endParaRPr lang="en-US" sz="8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80000"/>
              </a:lnSpc>
              <a:defRPr/>
            </a:pPr>
            <a:r>
              <a:rPr lang="en-US" sz="8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</a:t>
            </a:r>
          </a:p>
          <a:p>
            <a:pPr>
              <a:lnSpc>
                <a:spcPct val="80000"/>
              </a:lnSpc>
              <a:defRPr/>
            </a:pPr>
            <a:endParaRPr lang="en-US" sz="42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4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GB" sz="4200" b="1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>
              <a:lnSpc>
                <a:spcPct val="80000"/>
              </a:lnSpc>
              <a:defRPr/>
            </a:pPr>
            <a:endParaRPr lang="en-US" sz="42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defRPr/>
            </a:pPr>
            <a:r>
              <a:rPr lang="en-IN" sz="7200" b="1" dirty="0" err="1">
                <a:solidFill>
                  <a:schemeClr val="tx1"/>
                </a:solidFill>
              </a:rPr>
              <a:t>Garimidi</a:t>
            </a:r>
            <a:r>
              <a:rPr lang="en-IN" sz="7200" b="1" dirty="0">
                <a:solidFill>
                  <a:schemeClr val="tx1"/>
                </a:solidFill>
              </a:rPr>
              <a:t> Siva Sree</a:t>
            </a:r>
            <a:endParaRPr 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4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4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56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>
              <a:lnSpc>
                <a:spcPct val="80000"/>
              </a:lnSpc>
              <a:defRPr/>
            </a:pPr>
            <a:r>
              <a:rPr lang="en-US" sz="42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42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</a:t>
            </a: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1447800" y="5115098"/>
            <a:ext cx="6858000" cy="1047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1166"/>
              </a:spcBef>
              <a:spcAft>
                <a:spcPts val="600"/>
              </a:spcAft>
            </a:pPr>
            <a:r>
              <a:rPr lang="en-GB" sz="21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1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1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sz="135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35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sz="135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sz="135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sz="135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2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2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2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2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2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2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2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200" b="1" u="sng" kern="100" dirty="0">
                <a:solidFill>
                  <a:srgbClr val="46788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www.klh.edu.in</a:t>
            </a:r>
            <a:endParaRPr lang="en-US" sz="1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343400"/>
            <a:ext cx="1874990" cy="9397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23BAAF-6108-DE64-342F-DE679B27F94C}"/>
              </a:ext>
            </a:extLst>
          </p:cNvPr>
          <p:cNvSpPr txBox="1"/>
          <p:nvPr/>
        </p:nvSpPr>
        <p:spPr>
          <a:xfrm>
            <a:off x="-1447800" y="340743"/>
            <a:ext cx="79517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en-IN" sz="40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SalarySense</a:t>
            </a:r>
            <a:r>
              <a:rPr lang="en-IN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40BE3-F29F-0C10-751A-C12D9B5284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015"/>
            <a:ext cx="1874990" cy="939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53BB-F2D9-5981-3911-E3CD62AA8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5476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31362-F3B1-87A9-8AC6-43B422602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43893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Features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&amp; Results</a:t>
            </a: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SalarySense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Web Application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Analysis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BBE1ED-9619-00CD-BD74-A2BF998CD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015"/>
            <a:ext cx="1874990" cy="939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67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5B172-09E0-EBC3-DE45-99E37BDA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91A77-D011-DA9A-7E65-578A3E30E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salary varies based on multiple factors such as education, experience, job role, industry, location, and company size.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salary estimation methods may be time-consuming, inconsistent, and difficult to scale for large datasets.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SalarySense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 uses machine learning regression techniques 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employee-related attributes and predict an estimated annual salary.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faster and data-driven approach to salary estimation through a Flask-based web application.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CAE88-2134-CBB1-321C-D23F93B31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015"/>
            <a:ext cx="1874990" cy="939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7634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1297-D23B-EC58-2AC3-A4D43BD73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050" y="480219"/>
            <a:ext cx="8458200" cy="715962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10263-6437-6254-84C9-A69F7480C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029200"/>
          </a:xfrm>
        </p:spPr>
        <p:txBody>
          <a:bodyPr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major factors that influence employee salary.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salary-related employee data.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transform categorical and numerical features for machine learning.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multiple regression models for salary prediction.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performance of different regression algorithms.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select the best-performing model based on evaluation metrics.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salary prediction through an interactive Flask web application.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B7662-4F5B-AB4D-7BC0-F603B3DE2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585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9C230-9FFF-BCD8-FE98-D5B6ACAE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Features</a:t>
            </a:r>
            <a:b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884AE-C515-5F4E-AB28-950C7C7D286F}"/>
              </a:ext>
            </a:extLst>
          </p:cNvPr>
          <p:cNvSpPr txBox="1"/>
          <p:nvPr/>
        </p:nvSpPr>
        <p:spPr>
          <a:xfrm>
            <a:off x="304800" y="1371600"/>
            <a:ext cx="8229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 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salary_data.csv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Records: 5,000 employees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 Annual Salary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Type: Employee salary and career-related information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Used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 of Experience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Level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Size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Salary — The salary amount that the machine learning models are trained to predict.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B98C86-6281-27D9-5CF3-C066547DA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639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199D-B327-387E-4D87-E7B0FD765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451EBB-A4E5-7E63-F840-61DA484FF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9298"/>
            <a:ext cx="1874990" cy="93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Project Methodology Workflow Infographic">
            <a:extLst>
              <a:ext uri="{FF2B5EF4-FFF2-40B4-BE49-F238E27FC236}">
                <a16:creationId xmlns:a16="http://schemas.microsoft.com/office/drawing/2014/main" id="{019F5A3C-7280-3515-85C0-A5E811BCE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7566"/>
            <a:ext cx="9143999" cy="57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8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DE6C-0006-B4B3-7539-13439E4C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EFCA-ABAC-09F7-972A-DF38B5BBF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Models Used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Linear Regression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identify a linear relationship between employee attributes and salary.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Decision Tree Regression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decision-based rules to predict salary based on different employee features.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Random Forest Regression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decision trees to improve prediction accuracy and reduce overfitting.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powerful boosting algorithm that builds models sequentially to improve prediction performance.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— Mean Absolute Error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— Root Mean Squared Error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— Coefficient of Determination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MAE and RMSE are better, while a higher R² score indicates better model performance.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C5261E-E876-350B-8800-30263F2F2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3242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8269-D284-5ED5-742E-01FFA18A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-76200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38F188-0188-0C5B-4394-02D072403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SalarySense AI Model Results">
            <a:extLst>
              <a:ext uri="{FF2B5EF4-FFF2-40B4-BE49-F238E27FC236}">
                <a16:creationId xmlns:a16="http://schemas.microsoft.com/office/drawing/2014/main" id="{97D72118-A9E3-0AC6-46DC-086E4A22C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1892"/>
            <a:ext cx="9144000" cy="562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9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34A8E-04EB-042D-C185-7C564B71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  <a:b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B28D4-E6A2-2E46-52FE-69A0FE51676F}"/>
              </a:ext>
            </a:extLst>
          </p:cNvPr>
          <p:cNvSpPr txBox="1"/>
          <p:nvPr/>
        </p:nvSpPr>
        <p:spPr>
          <a:xfrm>
            <a:off x="228600" y="1443841"/>
            <a:ext cx="6629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SalarySense</a:t>
            </a:r>
            <a:r>
              <a:rPr lang="en-IN" sz="2000" dirty="0"/>
              <a:t> AI Web Application</a:t>
            </a:r>
          </a:p>
          <a:p>
            <a:r>
              <a:rPr lang="en-IN" sz="2000" dirty="0"/>
              <a:t>The trained machine learning model is integrated into a Flask web application.</a:t>
            </a:r>
          </a:p>
          <a:p>
            <a:r>
              <a:rPr lang="en-IN" sz="2000" dirty="0"/>
              <a:t>Main Features</a:t>
            </a:r>
          </a:p>
          <a:p>
            <a:pPr lvl="0"/>
            <a:r>
              <a:rPr lang="en-IN" sz="2000" dirty="0"/>
              <a:t>User-friendly salary prediction interface.</a:t>
            </a:r>
          </a:p>
          <a:p>
            <a:pPr lvl="0"/>
            <a:r>
              <a:rPr lang="en-IN" sz="2000" dirty="0"/>
              <a:t>Accepts employee details as input.</a:t>
            </a:r>
          </a:p>
          <a:p>
            <a:pPr lvl="0"/>
            <a:r>
              <a:rPr lang="en-IN" sz="2000" dirty="0"/>
              <a:t>Processes the entered information.</a:t>
            </a:r>
          </a:p>
          <a:p>
            <a:pPr lvl="0"/>
            <a:r>
              <a:rPr lang="en-IN" sz="2000" dirty="0"/>
              <a:t>Uses the trained regression model for prediction.</a:t>
            </a:r>
          </a:p>
          <a:p>
            <a:pPr lvl="0"/>
            <a:r>
              <a:rPr lang="en-IN" sz="2000" dirty="0"/>
              <a:t>Displays the estimated annual salary.</a:t>
            </a:r>
          </a:p>
          <a:p>
            <a:r>
              <a:rPr lang="en-IN" sz="2000" dirty="0"/>
              <a:t>Screenshots to Add</a:t>
            </a:r>
          </a:p>
          <a:p>
            <a:r>
              <a:rPr lang="en-IN" sz="2000" dirty="0"/>
              <a:t> Home Page</a:t>
            </a:r>
            <a:br>
              <a:rPr lang="en-IN" sz="2000" dirty="0"/>
            </a:br>
            <a:r>
              <a:rPr lang="en-IN" sz="2000" dirty="0"/>
              <a:t> Prediction/Input Page</a:t>
            </a:r>
            <a:br>
              <a:rPr lang="en-IN" sz="2000" dirty="0"/>
            </a:br>
            <a:r>
              <a:rPr lang="en-IN" sz="2000" dirty="0"/>
              <a:t> Prediction Result Page</a:t>
            </a:r>
          </a:p>
          <a:p>
            <a:r>
              <a:rPr lang="en-IN" sz="2000" dirty="0"/>
              <a:t>Example Prediction Result</a:t>
            </a:r>
          </a:p>
          <a:p>
            <a:r>
              <a:rPr lang="en-IN" sz="2000" dirty="0"/>
              <a:t>Estimated Annual Salary: ₹64,620.00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BF8C2E-E18F-5549-C9E9-B62BEBE33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42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15A2-4960-7D8F-9196-94CE9941C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AB2370-CD4D-AC8D-E935-48EF42292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142"/>
            <a:ext cx="1874990" cy="93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04C8FF-49C0-44EF-BCCF-4896F306F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1214423"/>
            <a:ext cx="9220200" cy="564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05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ED7B-7EFC-DD1F-E511-27A6A1FE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308589-F514-EE93-6FE6-5883379A2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C78100-2831-0A83-DAFD-C60AA7DD90DE}"/>
              </a:ext>
            </a:extLst>
          </p:cNvPr>
          <p:cNvSpPr txBox="1"/>
          <p:nvPr/>
        </p:nvSpPr>
        <p:spPr>
          <a:xfrm>
            <a:off x="0" y="1905506"/>
            <a:ext cx="777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28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SalarySense</a:t>
            </a:r>
            <a:r>
              <a:rPr lang="en-IN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successfully demonstrates a machine-learning-based approach for employee salary prediction.</a:t>
            </a:r>
          </a:p>
          <a:p>
            <a:pPr indent="0" algn="l">
              <a:buNone/>
            </a:pPr>
            <a:r>
              <a:rPr lang="en-IN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lang="en-IN" sz="28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employee-related factors, applies different regression algorithms, compares their performance, and integrates the selected model into an interactive Flask web application.</a:t>
            </a:r>
          </a:p>
          <a:p>
            <a:pPr indent="0" algn="l">
              <a:buNone/>
            </a:pPr>
            <a:r>
              <a:rPr lang="en-IN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a simple, fast, and data-driven approach to estimating employee salaries.</a:t>
            </a:r>
            <a:endParaRPr lang="en-IN" sz="280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022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3C4FE-A1E0-0D1D-E050-0BE7C94D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18FDF-D817-411D-9DCC-93CD57608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Salary Data Integration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continuously updated salary and job-market data.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users which factors have the greatest influence on the predicted salary.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Datasets and Industries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system to cover more job roles, industries, and locations.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application online for easy access from different devices.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Recommendations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suggestions about suitable career paths, skills, and expected salary ranges.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0B727A-2137-A122-C051-AD23CC241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409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86D62-B2F4-192B-90A2-5E155D6B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DC6381-DF95-979C-9875-ACE361DF1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43000"/>
            <a:ext cx="9296400" cy="5715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FDB925-4934-5043-4FD2-DF09666A2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0881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C4BB-227B-314C-149B-CD3716C8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120BB-C596-9D6A-2475-E5F09C74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EE68B-A984-A993-C3D6-3C2C34269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F66C8F-F277-1901-39AA-CD95BA792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9144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50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1480-2069-820B-286C-FBEAF9D2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82064-B6D4-B83C-9E17-9C036367C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8434EB-21A7-D85B-159E-05811958C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C12C6D-4906-DBBA-62F1-384BD531F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59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C38CA-730F-C133-5285-482D356F7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12243-C8FB-36A5-CFF4-978ED14EE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AC8242-DE7E-2B2F-1750-604675B52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" y="35731"/>
            <a:ext cx="1874990" cy="93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3D2817-549E-DA10-C420-41FFE37CA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9144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943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D652-D91F-E7B6-E7E8-4DEF13588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2475F-D389-B6C0-4BF4-77584FCA0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CBF1F-128B-D711-56A1-DE98C9C2F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2107"/>
            <a:ext cx="1874990" cy="93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F4E14B-5670-26B2-AEAC-2463472D1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9144000" cy="579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01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CC496-5DC4-3C4A-E48F-7C8D484AD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76789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2906</TotalTime>
  <Words>672</Words>
  <Application>Microsoft Macintosh PowerPoint</Application>
  <PresentationFormat>On-screen Show (4:3)</PresentationFormat>
  <Paragraphs>108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Times New Roman</vt:lpstr>
      <vt:lpstr>Wingdings</vt:lpstr>
      <vt:lpstr>Office Theme</vt:lpstr>
      <vt:lpstr>        </vt:lpstr>
      <vt:lpstr>Table of contents</vt:lpstr>
      <vt:lpstr>Problem Statement</vt:lpstr>
      <vt:lpstr>Objectives</vt:lpstr>
      <vt:lpstr>Dataset &amp; Features </vt:lpstr>
      <vt:lpstr>Methodology</vt:lpstr>
      <vt:lpstr>Machine Learning Models</vt:lpstr>
      <vt:lpstr>Model Results</vt:lpstr>
      <vt:lpstr>Web Application </vt:lpstr>
      <vt:lpstr>Dashboard </vt:lpstr>
      <vt:lpstr>Conclusion</vt:lpstr>
      <vt:lpstr>Future 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Balusu, Lakshmi Narayana Chowdary (UMKC-Student)</cp:lastModifiedBy>
  <cp:revision>220</cp:revision>
  <dcterms:created xsi:type="dcterms:W3CDTF">2006-08-16T00:00:00Z</dcterms:created>
  <dcterms:modified xsi:type="dcterms:W3CDTF">2026-10-05T10:05:40Z</dcterms:modified>
</cp:coreProperties>
</file>